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7c9d51676aa4f43" /><Relationship Type="http://schemas.openxmlformats.org/package/2006/relationships/metadata/core-properties" Target="/docProps/core.xml" Id="Ra5bb6f2f711b44dc" /><Relationship Type="http://schemas.openxmlformats.org/officeDocument/2006/relationships/extended-properties" Target="/docProps/app.xml" Id="Rd5d573b0a2ff429c" /><Relationship Type="http://schemas.openxmlformats.org/officeDocument/2006/relationships/custom-properties" Target="/docProps/custom.xml" Id="R80880622653d406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e1192ce8ed04393"/>
  </p:notesMasterIdLst>
  <p:sldIdLst>
    <p:sldId id="256" r:id="Rfd496329da804ce7"/>
    <p:sldId id="257" r:id="R9d303a1bdd714d9a"/>
    <p:sldId id="258" r:id="Rb5ee74c300a442dd"/>
    <p:sldId id="259" r:id="R5803a2227b974604"/>
    <p:sldId id="260" r:id="R5c901a57189e4538"/>
    <p:sldId id="261" r:id="R8d48bb47b66f49dc"/>
    <p:sldId id="262" r:id="R7e7b7e21426c4141"/>
    <p:sldId id="263" r:id="Re7af15bec4d84691"/>
    <p:sldId id="264" r:id="Rab80be5f0dd1492e"/>
    <p:sldId id="265" r:id="R296d53dd735b456a"/>
    <p:sldId id="266" r:id="Rfcba57b0b469452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d496329da804ce7" /><Relationship Type="http://schemas.openxmlformats.org/officeDocument/2006/relationships/notesMaster" Target="/ppt/notesMasters/notesMaster1.xml" Id="Ree1192ce8ed04393" /><Relationship Type="http://schemas.openxmlformats.org/officeDocument/2006/relationships/slide" Target="/ppt/slides/slide2.xml" Id="R9d303a1bdd714d9a" /><Relationship Type="http://schemas.openxmlformats.org/officeDocument/2006/relationships/slide" Target="/ppt/slides/slide3.xml" Id="Rb5ee74c300a442dd" /><Relationship Type="http://schemas.openxmlformats.org/officeDocument/2006/relationships/slide" Target="/ppt/slides/slide4.xml" Id="R5803a2227b974604" /><Relationship Type="http://schemas.openxmlformats.org/officeDocument/2006/relationships/slide" Target="/ppt/slides/slide5.xml" Id="R5c901a57189e4538" /><Relationship Type="http://schemas.openxmlformats.org/officeDocument/2006/relationships/slide" Target="/ppt/slides/slide6.xml" Id="R8d48bb47b66f49dc" /><Relationship Type="http://schemas.openxmlformats.org/officeDocument/2006/relationships/slide" Target="/ppt/slides/slide7.xml" Id="R7e7b7e21426c4141" /><Relationship Type="http://schemas.openxmlformats.org/officeDocument/2006/relationships/slide" Target="/ppt/slides/slide8.xml" Id="Re7af15bec4d84691" /><Relationship Type="http://schemas.openxmlformats.org/officeDocument/2006/relationships/slide" Target="/ppt/slides/slide9.xml" Id="Rab80be5f0dd1492e" /><Relationship Type="http://schemas.openxmlformats.org/officeDocument/2006/relationships/slide" Target="/ppt/slides/slide10.xml" Id="R296d53dd735b456a" /><Relationship Type="http://schemas.openxmlformats.org/officeDocument/2006/relationships/slide" Target="/ppt/slides/slide11.xml" Id="Rfcba57b0b46945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5752bb8c7894bb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326924b9f3e4cb0" /><Relationship Type="http://schemas.openxmlformats.org/officeDocument/2006/relationships/slide" Target="/ppt/slides/slide1.xml" Id="R6a8a8cbd120d4e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ff7d1af2b1b4bf9" /><Relationship Type="http://schemas.openxmlformats.org/officeDocument/2006/relationships/slide" Target="/ppt/slides/slide2.xml" Id="Ra8cf040f7d274b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a91919e69b4509" /><Relationship Type="http://schemas.openxmlformats.org/officeDocument/2006/relationships/slide" Target="/ppt/slides/slide3.xml" Id="R6619db638e2041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1d25d4fd5924551" /><Relationship Type="http://schemas.openxmlformats.org/officeDocument/2006/relationships/slide" Target="/ppt/slides/slide4.xml" Id="Re400cd3390dc47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6c21dda5574f7f" /><Relationship Type="http://schemas.openxmlformats.org/officeDocument/2006/relationships/slide" Target="/ppt/slides/slide5.xml" Id="Ra94c0bbb2afb4d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1c3d6df4a5e4289" /><Relationship Type="http://schemas.openxmlformats.org/officeDocument/2006/relationships/slide" Target="/ppt/slides/slide6.xml" Id="R26042a5e4d2848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64461a1ca27440d" /><Relationship Type="http://schemas.openxmlformats.org/officeDocument/2006/relationships/slide" Target="/ppt/slides/slide7.xml" Id="R7fc4b9f3e68248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f9386100da24bb1" /><Relationship Type="http://schemas.openxmlformats.org/officeDocument/2006/relationships/slide" Target="/ppt/slides/slide8.xml" Id="R0bc034f8cd304e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c995b6935fc4fe2" /><Relationship Type="http://schemas.openxmlformats.org/officeDocument/2006/relationships/slide" Target="/ppt/slides/slide9.xml" Id="R06095f6dc50148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10c1ef0e0104dd6" /><Relationship Type="http://schemas.openxmlformats.org/officeDocument/2006/relationships/slide" Target="/ppt/slides/slide10.xml" Id="Raef3b6dcb7ef43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2674ef7cb314bbf" /><Relationship Type="http://schemas.openxmlformats.org/officeDocument/2006/relationships/slide" Target="/ppt/slides/slide11.xml" Id="Rfe4f9f70bfec48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Project: GharValue AI — House Price Prediction Using Machine Learning. Student: Raj Jaiswal, Roll: 300703324028, CGIT Bilaspur. Guide: Samiksha Shukla, Asst. Prof.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 slide covering all major sections of the GharValue AI presentation.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core problem: Indian property market lacks transparent, data-driven valuation tools. Buyers rely on agents; there is no objective reference point. GharValue AI addresses this gap.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clearly defined objectives aligned with the B.Tech project requirements. Emphasise reproducibility, transparency, and academic rigor.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open-source, well-maintained, industry-standard libraries. No paid APIs or proprietary tools required. Application runs entirely locally.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Modular architecture with clear separation of concerns. Each layer is independently testable. The sklearn Pipeline encapsulates preprocessing + model for consistent inference.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Key engineering decisions: 1) Preprocessing fit only on training split prevents leakage. 2) Full sklearn Pipeline saved ensures identical preprocessing at inference. 3) Seed=42 ensures reproducibility.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 algorithms covering linear to ensemble methods. Selection criterion: RMSE on test set. For real datasets, Random Forest or Gradient Boosting typically performs best.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why multiple metrics: MAE is intuitive in rupees, RMSE catches large outlier errors, R2 gives relative explanatory power, MAPE is percentage-based for comparison.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Demonstrate each page during the live demo. Emphasise: real data only in charts, graceful handling of missing models, CSV export feature.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Be honest about limitations — examiners appreciate this. The future scope shows awareness of what can be improved and demonstrates research potential.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111d86fb344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07df89cdc349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2b996d8ba49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f8acb4f5a42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76328470b49b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4486cb934e3479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a7cee624f4a1b" /><Relationship Type="http://schemas.openxmlformats.org/officeDocument/2006/relationships/notesSlide" Target="/ppt/notesSlides/notesSlide1.xml" Id="R123e1ef8924d40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399020bc04701" /><Relationship Type="http://schemas.openxmlformats.org/officeDocument/2006/relationships/notesSlide" Target="/ppt/notesSlides/notesSlide2.xml" Id="Rfc2b5ce275c043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b01a0b44b435e" /><Relationship Type="http://schemas.openxmlformats.org/officeDocument/2006/relationships/notesSlide" Target="/ppt/notesSlides/notesSlide3.xml" Id="R1b152d73360e46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e012ef2514d99" /><Relationship Type="http://schemas.openxmlformats.org/officeDocument/2006/relationships/notesSlide" Target="/ppt/notesSlides/notesSlide4.xml" Id="R52a6c659fcc646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44e29fa504da6" /><Relationship Type="http://schemas.openxmlformats.org/officeDocument/2006/relationships/notesSlide" Target="/ppt/notesSlides/notesSlide5.xml" Id="Rc5df7f03481742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ebe710b304cc4" /><Relationship Type="http://schemas.openxmlformats.org/officeDocument/2006/relationships/notesSlide" Target="/ppt/notesSlides/notesSlide6.xml" Id="R7a77e1c0397e45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0bffd6db34bfe" /><Relationship Type="http://schemas.openxmlformats.org/officeDocument/2006/relationships/notesSlide" Target="/ppt/notesSlides/notesSlide7.xml" Id="R97ca6e287f074b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2f0d3039b4aff" /><Relationship Type="http://schemas.openxmlformats.org/officeDocument/2006/relationships/notesSlide" Target="/ppt/notesSlides/notesSlide8.xml" Id="Rfdc986acdda747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2f1152a7440ee" /><Relationship Type="http://schemas.openxmlformats.org/officeDocument/2006/relationships/notesSlide" Target="/ppt/notesSlides/notesSlide9.xml" Id="Rc06d263dda494f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6d2b5fab147ac" /><Relationship Type="http://schemas.openxmlformats.org/officeDocument/2006/relationships/notesSlide" Target="/ppt/notesSlides/notesSlide10.xml" Id="R7b1ec643fea74b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c489dc2164922" /><Relationship Type="http://schemas.openxmlformats.org/officeDocument/2006/relationships/notesSlide" Target="/ppt/notesSlides/notesSlide11.xml" Id="R78338a734cd240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00" name="MainTitle"/>
          <p:cNvSpPr txBox="1"/>
          <p:nvPr/>
        </p:nvSpPr>
        <p:spPr>
          <a:xfrm xmlns:a="http://schemas.openxmlformats.org/drawingml/2006/main">
            <a:off x="540000" y="1080000"/>
            <a:ext cx="1080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FFFFF"/>
                </a:solidFill>
                <a:latin typeface="Calibri"/>
                <a:ea typeface="Calibri"/>
              </a:rPr>
              <a:t>GharValue AI</a:t>
            </a:r>
          </a:p>
        </p:txBody>
      </p:sp>
      <p:sp>
        <p:nvSpPr>
          <p:cNvPr id="100001" name="Subtitle"/>
          <p:cNvSpPr txBox="1"/>
          <p:nvPr/>
        </p:nvSpPr>
        <p:spPr>
          <a:xfrm xmlns:a="http://schemas.openxmlformats.org/drawingml/2006/main">
            <a:off x="540000" y="2592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0">
                <a:solidFill>
                  <a:srgbClr val="7DD3FC"/>
                </a:solidFill>
                <a:latin typeface="Calibri"/>
                <a:ea typeface="Calibri"/>
              </a:rPr>
              <a:t>House Price Prediction Using Machine Learning</a:t>
            </a:r>
          </a:p>
        </p:txBody>
      </p:sp>
      <p:sp>
        <p:nvSpPr>
          <p:cNvPr id="100002" name="StudentInfo"/>
          <p:cNvSpPr txBox="1"/>
          <p:nvPr/>
        </p:nvSpPr>
        <p:spPr>
          <a:xfrm xmlns:a="http://schemas.openxmlformats.org/drawingml/2006/main">
            <a:off x="540000" y="468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CBD5E1"/>
                </a:solidFill>
                <a:latin typeface="Calibri"/>
                <a:ea typeface="Calibri"/>
              </a:rPr>
              <a:t>Raj Jaiswal | Roll No: 300703324028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CBD5E1"/>
                </a:solidFill>
                <a:latin typeface="Calibri"/>
                <a:ea typeface="Calibri"/>
              </a:rPr>
              <a:t>B.Tech IT — CGIT Bilaspur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CBD5E1"/>
                </a:solidFill>
                <a:latin typeface="Calibri"/>
                <a:ea typeface="Calibri"/>
              </a:rPr>
              <a:t>Guide: Samiksha Shukla (Asst. Prof., IT Dept.)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Heade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04" name="SlideTitle"/>
          <p:cNvSpPr txBox="1"/>
          <p:nvPr/>
        </p:nvSpPr>
        <p:spPr>
          <a:xfrm xmlns:a="http://schemas.openxmlformats.org/drawingml/2006/main">
            <a:off x="540000" y="10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100005" name="AgendaContent"/>
          <p:cNvSpPr txBox="1"/>
          <p:nvPr/>
        </p:nvSpPr>
        <p:spPr>
          <a:xfrm xmlns:a="http://schemas.openxmlformats.org/drawingml/2006/main">
            <a:off x="1080000" y="1260000"/>
            <a:ext cx="972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1A1A2E"/>
                </a:solidFill>
                <a:latin typeface="Calibri"/>
                <a:ea typeface="Calibri"/>
              </a:rPr>
              <a:t>1.  Problem Statement</a:t>
            </a:r>
          </a:p>
          <a:p xmlns:a="http://schemas.openxmlformats.org/drawingml/2006/main">
            <a:r>
              <a:rPr lang="en-US" sz="2200">
                <a:solidFill>
                  <a:srgbClr val="1A1A2E"/>
                </a:solidFill>
                <a:latin typeface="Calibri"/>
                <a:ea typeface="Calibri"/>
              </a:rPr>
              <a:t>2.  Project Objectives</a:t>
            </a:r>
          </a:p>
          <a:p xmlns:a="http://schemas.openxmlformats.org/drawingml/2006/main">
            <a:r>
              <a:rPr lang="en-US" sz="2200">
                <a:solidFill>
                  <a:srgbClr val="1A1A2E"/>
                </a:solidFill>
                <a:latin typeface="Calibri"/>
                <a:ea typeface="Calibri"/>
              </a:rPr>
              <a:t>3.  Proposed Solution</a:t>
            </a:r>
          </a:p>
          <a:p xmlns:a="http://schemas.openxmlformats.org/drawingml/2006/main">
            <a:r>
              <a:rPr lang="en-US" sz="2200">
                <a:solidFill>
                  <a:srgbClr val="1A1A2E"/>
                </a:solidFill>
                <a:latin typeface="Calibri"/>
                <a:ea typeface="Calibri"/>
              </a:rPr>
              <a:t>4.  Technology Stack</a:t>
            </a:r>
          </a:p>
          <a:p xmlns:a="http://schemas.openxmlformats.org/drawingml/2006/main">
            <a:r>
              <a:rPr lang="en-US" sz="2200">
                <a:solidFill>
                  <a:srgbClr val="1A1A2E"/>
                </a:solidFill>
                <a:latin typeface="Calibri"/>
                <a:ea typeface="Calibri"/>
              </a:rPr>
              <a:t>5.  System Architecture</a:t>
            </a:r>
          </a:p>
          <a:p xmlns:a="http://schemas.openxmlformats.org/drawingml/2006/main">
            <a:r>
              <a:rPr lang="en-US" sz="2200">
                <a:solidFill>
                  <a:srgbClr val="1A1A2E"/>
                </a:solidFill>
                <a:latin typeface="Calibri"/>
                <a:ea typeface="Calibri"/>
              </a:rPr>
              <a:t>6.  Machine Learning Pipeline</a:t>
            </a:r>
          </a:p>
          <a:p xmlns:a="http://schemas.openxmlformats.org/drawingml/2006/main">
            <a:r>
              <a:rPr lang="en-US" sz="2200">
                <a:solidFill>
                  <a:srgbClr val="1A1A2E"/>
                </a:solidFill>
                <a:latin typeface="Calibri"/>
                <a:ea typeface="Calibri"/>
              </a:rPr>
              <a:t>7.  Evaluation Metrics &amp; Results</a:t>
            </a:r>
          </a:p>
          <a:p xmlns:a="http://schemas.openxmlformats.org/drawingml/2006/main">
            <a:r>
              <a:rPr lang="en-US" sz="2200">
                <a:solidFill>
                  <a:srgbClr val="1A1A2E"/>
                </a:solidFill>
                <a:latin typeface="Calibri"/>
                <a:ea typeface="Calibri"/>
              </a:rPr>
              <a:t>8.  Application Features</a:t>
            </a:r>
          </a:p>
          <a:p xmlns:a="http://schemas.openxmlformats.org/drawingml/2006/main">
            <a:r>
              <a:rPr lang="en-US" sz="2200">
                <a:solidFill>
                  <a:srgbClr val="1A1A2E"/>
                </a:solidFill>
                <a:latin typeface="Calibri"/>
                <a:ea typeface="Calibri"/>
              </a:rPr>
              <a:t>9.  Limitations &amp; Future Scope</a:t>
            </a:r>
          </a:p>
          <a:p xmlns:a="http://schemas.openxmlformats.org/drawingml/2006/main">
            <a:r>
              <a:rPr lang="en-US" sz="2200">
                <a:solidFill>
                  <a:srgbClr val="1A1A2E"/>
                </a:solidFill>
                <a:latin typeface="Calibri"/>
                <a:ea typeface="Calibri"/>
              </a:rPr>
              <a:t>10. Conclusion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Heade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07" name="SlideTitle"/>
          <p:cNvSpPr txBox="1"/>
          <p:nvPr/>
        </p:nvSpPr>
        <p:spPr>
          <a:xfrm xmlns:a="http://schemas.openxmlformats.org/drawingml/2006/main">
            <a:off x="540000" y="10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Problem Statement</a:t>
            </a:r>
          </a:p>
        </p:txBody>
      </p:sp>
      <p:sp>
        <p:nvSpPr>
          <p:cNvPr id="100008" name="ProblemText"/>
          <p:cNvSpPr txBox="1"/>
          <p:nvPr/>
        </p:nvSpPr>
        <p:spPr>
          <a:xfrm xmlns:a="http://schemas.openxmlformats.org/drawingml/2006/main">
            <a:off x="540000" y="1080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1E3A5F"/>
                </a:solidFill>
                <a:latin typeface="Calibri"/>
                <a:ea typeface="Calibri"/>
              </a:rPr>
              <a:t>The Challenge</a:t>
            </a:r>
          </a:p>
        </p:txBody>
      </p:sp>
      <p:sp>
        <p:nvSpPr>
          <p:cNvPr id="100009" name="ProblemBody"/>
          <p:cNvSpPr txBox="1"/>
          <p:nvPr/>
        </p:nvSpPr>
        <p:spPr>
          <a:xfrm xmlns:a="http://schemas.openxmlformats.org/drawingml/2006/main">
            <a:off x="540000" y="1512000"/>
            <a:ext cx="1080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Property pricing in India is complex, opaque, and highly variable — influenced by: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  • Location (state, city, locality)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  • Infrastructure and connectivity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  • Property type, size, and age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  • Furnishing and amenities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  • Local market demand and supply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  • Floor level and building quality</a:t>
            </a:r>
          </a:p>
        </p:txBody>
      </p:sp>
      <p:sp>
        <p:nvSpPr>
          <p:cNvPr id="100010" name="ProblemImpact"/>
          <p:cNvSpPr txBox="1"/>
          <p:nvPr/>
        </p:nvSpPr>
        <p:spPr>
          <a:xfrm xmlns:a="http://schemas.openxmlformats.org/drawingml/2006/main">
            <a:off x="540000" y="450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7C3AED"/>
                </a:solidFill>
                <a:latin typeface="Calibri"/>
                <a:ea typeface="Calibri"/>
              </a:rPr>
              <a:t>Impact: Buyers, sellers, and investors lack objective, data-driven price estimates — relying instead on unverified agent opinions and outdated listings.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Heade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SlideTitle"/>
          <p:cNvSpPr txBox="1"/>
          <p:nvPr/>
        </p:nvSpPr>
        <p:spPr>
          <a:xfrm xmlns:a="http://schemas.openxmlformats.org/drawingml/2006/main">
            <a:off x="540000" y="10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Project Objectives</a:t>
            </a:r>
          </a:p>
        </p:txBody>
      </p:sp>
      <p:sp>
        <p:nvSpPr>
          <p:cNvPr id="100013" name="Objectives"/>
          <p:cNvSpPr txBox="1"/>
          <p:nvPr/>
        </p:nvSpPr>
        <p:spPr>
          <a:xfrm xmlns:a="http://schemas.openxmlformats.org/drawingml/2006/main">
            <a:off x="540000" y="1152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1.  Build a reproducible ML pipeline trained on Indian property data.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2.  Provide an interactive Streamlit web interface for price estimation.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3.  Compare four regression algorithms and select the best performer using held-out test data.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4.  Deliver transparent, interpretable results with appropriate uncertainty disclosure.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5.  Support all Indian states, Union Territories, and major cities.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6.  Create a modular, well-tested codebase suitable for academic demonstration.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4" name="Heade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5" name="SlideTitle"/>
          <p:cNvSpPr txBox="1"/>
          <p:nvPr/>
        </p:nvSpPr>
        <p:spPr>
          <a:xfrm xmlns:a="http://schemas.openxmlformats.org/drawingml/2006/main">
            <a:off x="540000" y="10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Technology Stack</a:t>
            </a:r>
          </a:p>
        </p:txBody>
      </p:sp>
      <p:sp>
        <p:nvSpPr>
          <p:cNvPr id="100016" name="TechLeft"/>
          <p:cNvSpPr txBox="1"/>
          <p:nvPr/>
        </p:nvSpPr>
        <p:spPr>
          <a:xfrm xmlns:a="http://schemas.openxmlformats.org/drawingml/2006/main">
            <a:off x="540000" y="1080000"/>
            <a:ext cx="468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Core Libraries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Python 3.11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Streamlit ≥ 1.32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Scikit-learn ≥ 1.4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Pandas ≥ 2.0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NumPy ≥ 1.24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Plotly ≥ 5.18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Joblib ≥ 1.3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Pytest ≥ 7.4</a:t>
            </a:r>
          </a:p>
        </p:txBody>
      </p:sp>
      <p:sp>
        <p:nvSpPr>
          <p:cNvPr id="100017" name="TechRight"/>
          <p:cNvSpPr txBox="1"/>
          <p:nvPr/>
        </p:nvSpPr>
        <p:spPr>
          <a:xfrm xmlns:a="http://schemas.openxmlformats.org/drawingml/2006/main">
            <a:off x="5220000" y="1080000"/>
            <a:ext cx="612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57606A"/>
                </a:solidFill>
                <a:latin typeface="Calibri"/>
                <a:ea typeface="Calibri"/>
              </a:rPr>
              <a:t>Purpose</a:t>
            </a:r>
          </a:p>
          <a:p xmlns:a="http://schemas.openxmlformats.org/drawingml/2006/main">
            <a:r>
              <a:rPr lang="en-US" sz="1800">
                <a:solidFill>
                  <a:srgbClr val="57606A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57606A"/>
                </a:solidFill>
                <a:latin typeface="Calibri"/>
                <a:ea typeface="Calibri"/>
              </a:rPr>
              <a:t>Language</a:t>
            </a:r>
          </a:p>
          <a:p xmlns:a="http://schemas.openxmlformats.org/drawingml/2006/main">
            <a:r>
              <a:rPr lang="en-US" sz="1800">
                <a:solidFill>
                  <a:srgbClr val="57606A"/>
                </a:solidFill>
                <a:latin typeface="Calibri"/>
                <a:ea typeface="Calibri"/>
              </a:rPr>
              <a:t>Web Application</a:t>
            </a:r>
          </a:p>
          <a:p xmlns:a="http://schemas.openxmlformats.org/drawingml/2006/main">
            <a:r>
              <a:rPr lang="en-US" sz="1800">
                <a:solidFill>
                  <a:srgbClr val="57606A"/>
                </a:solidFill>
                <a:latin typeface="Calibri"/>
                <a:ea typeface="Calibri"/>
              </a:rPr>
              <a:t>Machine Learning</a:t>
            </a:r>
          </a:p>
          <a:p xmlns:a="http://schemas.openxmlformats.org/drawingml/2006/main">
            <a:r>
              <a:rPr lang="en-US" sz="1800">
                <a:solidFill>
                  <a:srgbClr val="57606A"/>
                </a:solidFill>
                <a:latin typeface="Calibri"/>
                <a:ea typeface="Calibri"/>
              </a:rPr>
              <a:t>Data Processing</a:t>
            </a:r>
          </a:p>
          <a:p xmlns:a="http://schemas.openxmlformats.org/drawingml/2006/main">
            <a:r>
              <a:rPr lang="en-US" sz="1800">
                <a:solidFill>
                  <a:srgbClr val="57606A"/>
                </a:solidFill>
                <a:latin typeface="Calibri"/>
                <a:ea typeface="Calibri"/>
              </a:rPr>
              <a:t>Numerical Computing</a:t>
            </a:r>
          </a:p>
          <a:p xmlns:a="http://schemas.openxmlformats.org/drawingml/2006/main">
            <a:r>
              <a:rPr lang="en-US" sz="1800">
                <a:solidFill>
                  <a:srgbClr val="57606A"/>
                </a:solidFill>
                <a:latin typeface="Calibri"/>
                <a:ea typeface="Calibri"/>
              </a:rPr>
              <a:t>Interactive Charts</a:t>
            </a:r>
          </a:p>
          <a:p xmlns:a="http://schemas.openxmlformats.org/drawingml/2006/main">
            <a:r>
              <a:rPr lang="en-US" sz="1800">
                <a:solidFill>
                  <a:srgbClr val="57606A"/>
                </a:solidFill>
                <a:latin typeface="Calibri"/>
                <a:ea typeface="Calibri"/>
              </a:rPr>
              <a:t>Model Persistence</a:t>
            </a:r>
          </a:p>
          <a:p xmlns:a="http://schemas.openxmlformats.org/drawingml/2006/main">
            <a:r>
              <a:rPr lang="en-US" sz="1800">
                <a:solidFill>
                  <a:srgbClr val="57606A"/>
                </a:solidFill>
                <a:latin typeface="Calibri"/>
                <a:ea typeface="Calibri"/>
              </a:rPr>
              <a:t>Automated Testing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8" name="Heade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SlideTitle"/>
          <p:cNvSpPr txBox="1"/>
          <p:nvPr/>
        </p:nvSpPr>
        <p:spPr>
          <a:xfrm xmlns:a="http://schemas.openxmlformats.org/drawingml/2006/main">
            <a:off x="540000" y="10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00020" name="ArchDiagram"/>
          <p:cNvSpPr txBox="1"/>
          <p:nvPr/>
        </p:nvSpPr>
        <p:spPr>
          <a:xfrm xmlns:a="http://schemas.openxmlformats.org/drawingml/2006/main">
            <a:off x="720000" y="1080000"/>
            <a:ext cx="1044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DATA LAYER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data_loader.py → preprocessing.py → validation.py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         ↓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ML PIPELINE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model_training.py → evaluation.py → prediction.py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         ↓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VISUALISATION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visualisations.py → Plotly charts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         ↓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STREAMLIT WEB APP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app.py + 7 pages → User Interface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         ↓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USER INTERACTION</a:t>
            </a:r>
          </a:p>
          <a:p xmlns:a="http://schemas.openxmlformats.org/drawingml/2006/main">
            <a:r>
              <a:rPr lang="en-US" sz="1400">
                <a:solidFill>
                  <a:srgbClr val="1A1A2E"/>
                </a:solidFill>
                <a:latin typeface="Courier New"/>
                <a:ea typeface="Courier New"/>
              </a:rPr>
              <a:t>Input → Validation → Inference → Display → Export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1" name="Heade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SlideTitle"/>
          <p:cNvSpPr txBox="1"/>
          <p:nvPr/>
        </p:nvSpPr>
        <p:spPr>
          <a:xfrm xmlns:a="http://schemas.openxmlformats.org/drawingml/2006/main">
            <a:off x="540000" y="10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Machine Learning Pipeline</a:t>
            </a:r>
          </a:p>
        </p:txBody>
      </p:sp>
      <p:sp>
        <p:nvSpPr>
          <p:cNvPr id="100023" name="Steps"/>
          <p:cNvSpPr txBox="1"/>
          <p:nvPr/>
        </p:nvSpPr>
        <p:spPr>
          <a:xfrm xmlns:a="http://schemas.openxmlformats.org/drawingml/2006/main">
            <a:off x="540000" y="1080000"/>
            <a:ext cx="1080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Step 1: Load &amp; Validate Dataset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   CSV parsing, column normalisation, duplicate removal, outlier clipping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Step 2: Feature Engineering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   Separate numeric (area, bedrooms, age…) and categorical (city, type, furnishing…) features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Step 3: Train / Test Split — 80% / 20% (seed=42)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   Preprocessing fitted only on training data (zero data leakage)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Step 4: Preprocessing Pipeline (sklearn ColumnTransformer)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   Numeric: Median Imputation → StandardScaler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   Categorical: Mode Imputation → OrdinalEncoder (unknown=-1)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Step 5: Train 4 Regressors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   Linear Regression | Random Forest | Extra Trees | Gradient Boosting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Step 6: Evaluate on Held-Out Test Set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   MAE · RMSE · R² · MAPE  (never seen during training)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Step 7: Save Best Pipeline</a:t>
            </a:r>
          </a:p>
          <a:p xmlns:a="http://schemas.openxmlformats.org/drawingml/2006/main">
            <a:r>
              <a:rPr lang="en-US" sz="1700">
                <a:solidFill>
                  <a:srgbClr val="1A1A2E"/>
                </a:solidFill>
                <a:latin typeface="Calibri"/>
                <a:ea typeface="Calibri"/>
              </a:rPr>
              <a:t>   joblib → models/best_model.joblib + metadata JSON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4" name="Heade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SlideTitle"/>
          <p:cNvSpPr txBox="1"/>
          <p:nvPr/>
        </p:nvSpPr>
        <p:spPr>
          <a:xfrm xmlns:a="http://schemas.openxmlformats.org/drawingml/2006/main">
            <a:off x="540000" y="10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Regression Algorithms</a:t>
            </a:r>
          </a:p>
        </p:txBody>
      </p:sp>
      <p:sp>
        <p:nvSpPr>
          <p:cNvPr id="100026" name="Algo1"/>
          <p:cNvSpPr txBox="1"/>
          <p:nvPr/>
        </p:nvSpPr>
        <p:spPr>
          <a:xfrm xmlns:a="http://schemas.openxmlformats.org/drawingml/2006/main">
            <a:off x="540000" y="1080000"/>
            <a:ext cx="50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1. Linear Regression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Fits: price = β₀ + β₁·area + β₂·bedrooms + …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Pros: Interpretable, fast. Cons: Assumes linearity.</a:t>
            </a:r>
          </a:p>
        </p:txBody>
      </p:sp>
      <p:sp>
        <p:nvSpPr>
          <p:cNvPr id="100027" name="Algo2"/>
          <p:cNvSpPr txBox="1"/>
          <p:nvPr/>
        </p:nvSpPr>
        <p:spPr>
          <a:xfrm xmlns:a="http://schemas.openxmlformats.org/drawingml/2006/main">
            <a:off x="6120000" y="1080000"/>
            <a:ext cx="50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2. Random Forest Regressor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Ensemble of 200 decision trees (bagging).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Pros: High accuracy, feature importance, robust.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Cons: Less interpretable, slower inference.</a:t>
            </a:r>
          </a:p>
        </p:txBody>
      </p:sp>
      <p:sp>
        <p:nvSpPr>
          <p:cNvPr id="100028" name="Algo3"/>
          <p:cNvSpPr txBox="1"/>
          <p:nvPr/>
        </p:nvSpPr>
        <p:spPr>
          <a:xfrm xmlns:a="http://schemas.openxmlformats.org/drawingml/2006/main">
            <a:off x="540000" y="3060000"/>
            <a:ext cx="50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3. Extra Trees Regressor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Random thresholds for splits (vs. optimal in RF).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Pros: Even lower variance, faster training.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Cons: Sometimes higher bias.</a:t>
            </a:r>
          </a:p>
        </p:txBody>
      </p:sp>
      <p:sp>
        <p:nvSpPr>
          <p:cNvPr id="100029" name="Algo4"/>
          <p:cNvSpPr txBox="1"/>
          <p:nvPr/>
        </p:nvSpPr>
        <p:spPr>
          <a:xfrm xmlns:a="http://schemas.openxmlformats.org/drawingml/2006/main">
            <a:off x="6120000" y="3060000"/>
            <a:ext cx="50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4. Gradient Boosting Regressor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200 trees built sequentially (boosting).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Pros: Best accuracy on tabular data.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Cons: Slower training, hyperparameter-sensitive.</a:t>
            </a:r>
          </a:p>
        </p:txBody>
      </p:sp>
      <p:sp>
        <p:nvSpPr>
          <p:cNvPr id="100030" name="Selection"/>
          <p:cNvSpPr txBox="1"/>
          <p:nvPr/>
        </p:nvSpPr>
        <p:spPr>
          <a:xfrm xmlns:a="http://schemas.openxmlformats.org/drawingml/2006/main">
            <a:off x="540000" y="504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3A5F"/>
                </a:solidFill>
                <a:latin typeface="Calibri"/>
                <a:ea typeface="Calibri"/>
              </a:rPr>
              <a:t>Best model selected by lowest RMSE on held-out test split.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1" name="Heade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SlideTitle"/>
          <p:cNvSpPr txBox="1"/>
          <p:nvPr/>
        </p:nvSpPr>
        <p:spPr>
          <a:xfrm xmlns:a="http://schemas.openxmlformats.org/drawingml/2006/main">
            <a:off x="540000" y="10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Evaluation Metrics</a:t>
            </a:r>
          </a:p>
        </p:txBody>
      </p:sp>
      <p:sp>
        <p:nvSpPr>
          <p:cNvPr id="100033" name="MetricsTitle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3A5F"/>
                </a:solidFill>
                <a:latin typeface="Calibri"/>
                <a:ea typeface="Calibri"/>
              </a:rPr>
              <a:t>Four metrics computed on the 20% held-out test set:</a:t>
            </a:r>
          </a:p>
        </p:txBody>
      </p:sp>
      <p:sp>
        <p:nvSpPr>
          <p:cNvPr id="100034" name="MetricsContent"/>
          <p:cNvSpPr txBox="1"/>
          <p:nvPr/>
        </p:nvSpPr>
        <p:spPr>
          <a:xfrm xmlns:a="http://schemas.openxmlformats.org/drawingml/2006/main">
            <a:off x="540000" y="1512000"/>
            <a:ext cx="10800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MAE — Mean Absolute Error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   Average of |actual price − predicted price| in ₹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   Intuitive: average prediction error. Lower = better.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RMSE — Root Mean Squared Error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   √(mean of squared errors) in ₹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   Penalises large errors more. Lower = better.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R² — Coefficient of Determination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   Fraction of price variance explained by the model.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   1.0 = perfect. 0 = no better than mean. Negative = worse than mean.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MAPE — Mean Absolute Percentage Error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   Average % deviation. Scale-independent. Lower = better.</a:t>
            </a:r>
          </a:p>
        </p:txBody>
      </p:sp>
      <p:sp>
        <p:nvSpPr>
          <p:cNvPr id="100035" name="MetricsNote"/>
          <p:cNvSpPr txBox="1"/>
          <p:nvPr/>
        </p:nvSpPr>
        <p:spPr>
          <a:xfrm xmlns:a="http://schemas.openxmlformats.org/drawingml/2006/main">
            <a:off x="540000" y="5580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7C3AED"/>
                </a:solidFill>
                <a:latin typeface="Calibri"/>
                <a:ea typeface="Calibri"/>
              </a:rPr>
              <a:t>Note: These metrics are computed only from actual held-out data. No data leakage.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6" name="Heade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SlideTitle"/>
          <p:cNvSpPr txBox="1"/>
          <p:nvPr/>
        </p:nvSpPr>
        <p:spPr>
          <a:xfrm xmlns:a="http://schemas.openxmlformats.org/drawingml/2006/main">
            <a:off x="540000" y="10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Application Features (8 Pages)</a:t>
            </a:r>
          </a:p>
        </p:txBody>
      </p:sp>
      <p:sp>
        <p:nvSpPr>
          <p:cNvPr id="100038" name="FeaturesLeft"/>
          <p:cNvSpPr txBox="1"/>
          <p:nvPr/>
        </p:nvSpPr>
        <p:spPr>
          <a:xfrm xmlns:a="http://schemas.openxmlformats.org/drawingml/2006/main">
            <a:off x="540000" y="1080000"/>
            <a:ext cx="522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🏠 Home Dashboard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Status overview, quick estimate, session history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🔮 Price Prediction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Full form: location, type, BHK, area, furnishing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Validation, model inference, INR output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📊 Market Insights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City prices, area-price scatter, BHK distribution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Property type &amp; furnishing comparisons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🧪 Model Evaluation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Train all 4 models, comparison table, charts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Feature importance, actual vs predicted</a:t>
            </a:r>
          </a:p>
        </p:txBody>
      </p:sp>
      <p:sp>
        <p:nvSpPr>
          <p:cNvPr id="100039" name="FeaturesRight"/>
          <p:cNvSpPr txBox="1"/>
          <p:nvPr/>
        </p:nvSpPr>
        <p:spPr>
          <a:xfrm xmlns:a="http://schemas.openxmlformats.org/drawingml/2006/main">
            <a:off x="6120000" y="1080000"/>
            <a:ext cx="522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🌐 3D Analytics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Interactive Plotly 3D scatter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Area × BHK × Price with colour grouping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📁 Dataset Explorer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CSV upload, column mapping, validation report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Missing values, descriptive statistics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📋 Prediction History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Session history table, filters, CSV export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ℹ️ About Project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Architecture, algorithms, limitations</a:t>
            </a:r>
          </a:p>
          <a:p xmlns:a="http://schemas.openxmlformats.org/drawingml/2006/main">
            <a:r>
              <a:rPr lang="en-US" sz="1600">
                <a:solidFill>
                  <a:srgbClr val="1A1A2E"/>
                </a:solidFill>
                <a:latin typeface="Calibri"/>
                <a:ea typeface="Calibri"/>
              </a:rPr>
              <a:t>   Student &amp; guide information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0" name="Header"/>
          <p:cNvSpPr txBox="1"/>
          <p:nvPr/>
        </p:nvSpPr>
        <p:spPr>
          <a:xfrm xmlns:a="http://schemas.openxmlformats.org/drawingml/2006/main">
            <a:off x="0" y="0"/>
            <a:ext cx="121932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1" name="SlideTitle"/>
          <p:cNvSpPr txBox="1"/>
          <p:nvPr/>
        </p:nvSpPr>
        <p:spPr>
          <a:xfrm xmlns:a="http://schemas.openxmlformats.org/drawingml/2006/main">
            <a:off x="540000" y="108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Limitations &amp; Future Scope</a:t>
            </a:r>
          </a:p>
        </p:txBody>
      </p:sp>
      <p:sp>
        <p:nvSpPr>
          <p:cNvPr id="100042" name="LimTitle"/>
          <p:cNvSpPr txBox="1"/>
          <p:nvPr/>
        </p:nvSpPr>
        <p:spPr>
          <a:xfrm xmlns:a="http://schemas.openxmlformats.org/drawingml/2006/main">
            <a:off x="540000" y="108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DC2626"/>
                </a:solidFill>
                <a:latin typeface="Calibri"/>
                <a:ea typeface="Calibri"/>
              </a:rPr>
              <a:t>Current Limitations</a:t>
            </a:r>
          </a:p>
        </p:txBody>
      </p:sp>
      <p:sp>
        <p:nvSpPr>
          <p:cNvPr id="100043" name="Limitations"/>
          <p:cNvSpPr txBox="1"/>
          <p:nvPr/>
        </p:nvSpPr>
        <p:spPr>
          <a:xfrm xmlns:a="http://schemas.openxmlformats.org/drawingml/2006/main">
            <a:off x="540000" y="1512000"/>
            <a:ext cx="504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Accuracy depends on dataset quality &amp; coverage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No real-time market data integration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±10% range is heuristic, not calibrated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Rare cities/types have higher uncertainty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Session history lost on browser close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Feature importance ≠ causation</a:t>
            </a:r>
          </a:p>
        </p:txBody>
      </p:sp>
      <p:sp>
        <p:nvSpPr>
          <p:cNvPr id="100044" name="FutTitle"/>
          <p:cNvSpPr txBox="1"/>
          <p:nvPr/>
        </p:nvSpPr>
        <p:spPr>
          <a:xfrm xmlns:a="http://schemas.openxmlformats.org/drawingml/2006/main">
            <a:off x="6120000" y="1080000"/>
            <a:ext cx="52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59669"/>
                </a:solidFill>
                <a:latin typeface="Calibri"/>
                <a:ea typeface="Calibri"/>
              </a:rPr>
              <a:t>Future Enhancements</a:t>
            </a:r>
          </a:p>
        </p:txBody>
      </p:sp>
      <p:sp>
        <p:nvSpPr>
          <p:cNvPr id="100045" name="Future"/>
          <p:cNvSpPr txBox="1"/>
          <p:nvPr/>
        </p:nvSpPr>
        <p:spPr>
          <a:xfrm xmlns:a="http://schemas.openxmlformats.org/drawingml/2006/main">
            <a:off x="6120000" y="1512000"/>
            <a:ext cx="522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Real data integration (Govt. open APIs)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XGBoost / LightGBM models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Conformal prediction intervals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Infrastructure features (metro, schools)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Time-series price trend analysis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GeoJSON choropleth maps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Automated retraining pipeline</a:t>
            </a:r>
          </a:p>
          <a:p xmlns:a="http://schemas.openxmlformats.org/drawingml/2006/main">
            <a:r>
              <a:rPr lang="en-US" sz="1800">
                <a:solidFill>
                  <a:srgbClr val="1A1A2E"/>
                </a:solidFill>
                <a:latin typeface="Calibri"/>
                <a:ea typeface="Calibri"/>
              </a:rPr>
              <a:t>• Multi-language UI (Hindi, Tamil…)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2026-10-10T09:57:57Z</dcterms:created>
  <cp:lastModifiedBy>OfficeCLI</cp:lastModifiedBy>
  <dcterms:modified xsi:type="dcterms:W3CDTF">2026-10-10T09:57:57Z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2026-10-10T10:01:11Z</vt:lpwstr>
  </op:property>
</op:Properties>
</file>